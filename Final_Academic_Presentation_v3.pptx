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Soil Moisture Prediction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Academic EDA + ML Justification (Option 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Mean by Year</a:t>
            </a:r>
          </a:p>
        </p:txBody>
      </p:sp>
      <p:pic>
        <p:nvPicPr>
          <p:cNvPr id="3" name="Picture 2" descr="monthly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Pairplot Sample</a:t>
            </a:r>
          </a:p>
        </p:txBody>
      </p:sp>
      <p:pic>
        <p:nvPicPr>
          <p:cNvPr id="3" name="Picture 2" descr="pairplot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Season-wise Target Distribution</a:t>
            </a:r>
          </a:p>
        </p:txBody>
      </p:sp>
      <p:pic>
        <p:nvPicPr>
          <p:cNvPr id="3" name="Picture 2" descr="season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Moisture by State</a:t>
            </a:r>
          </a:p>
        </p:txBody>
      </p:sp>
      <p:pic>
        <p:nvPicPr>
          <p:cNvPr id="3" name="Picture 2" descr="state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Distribution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Log1p Target Distribution</a:t>
            </a:r>
          </a:p>
        </p:txBody>
      </p:sp>
      <p:pic>
        <p:nvPicPr>
          <p:cNvPr id="3" name="Picture 2" descr="target_log1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Average Over Time</a:t>
            </a:r>
          </a:p>
        </p:txBody>
      </p:sp>
      <p:pic>
        <p:nvPicPr>
          <p:cNvPr id="3" name="Picture 2" descr="timeseries_monthly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RMSE Comparison</a:t>
            </a:r>
          </a:p>
        </p:txBody>
      </p:sp>
      <p:pic>
        <p:nvPicPr>
          <p:cNvPr id="3" name="Picture 2" descr="model_comparison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Regression (Not Classification)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Soil moisture is a continuous variable</a:t>
            </a:r>
          </a:p>
          <a:p>
            <a:r>
              <a:t>• Classification loses precision</a:t>
            </a:r>
          </a:p>
          <a:p>
            <a:r>
              <a:t>• Regression fits ML lecture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size small</a:t>
            </a:r>
          </a:p>
          <a:p>
            <a:r>
              <a:t>• Tree models outperform DL on tabular data</a:t>
            </a:r>
          </a:p>
          <a:p>
            <a:r>
              <a:t>• DL needs GPU + more tuning</a:t>
            </a:r>
          </a:p>
          <a:p>
            <a:r>
              <a:t>• Higher risk of overfitting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Ensemble Models (XGBoost &amp; LightGBM)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Capture non-linear patterns</a:t>
            </a:r>
          </a:p>
          <a:p>
            <a:r>
              <a:t>• Boosting reduces residual errors</a:t>
            </a:r>
          </a:p>
          <a:p>
            <a:r>
              <a:t>• Best performance on tabular data</a:t>
            </a:r>
          </a:p>
          <a:p>
            <a:r>
              <a:t>• Recommended in Ensemble Learning lectures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Fails for non-linear seasonality</a:t>
            </a:r>
          </a:p>
          <a:p>
            <a:r>
              <a:t>• Assumes feature independence</a:t>
            </a:r>
          </a:p>
          <a:p>
            <a:r>
              <a:t>• Performs poorly on skewed targets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Feature Engineering Was Necessary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 cyclic encoding captures seasonality</a:t>
            </a:r>
          </a:p>
          <a:p>
            <a:r>
              <a:t>• Lag features capture temporal effect</a:t>
            </a:r>
          </a:p>
          <a:p>
            <a:r>
              <a:t>• Rolling windows smooth short patterns</a:t>
            </a:r>
          </a:p>
          <a:p>
            <a:r>
              <a:t>• Frequency encoding handles categorical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Log1p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 extremely right-skewed</a:t>
            </a:r>
          </a:p>
          <a:p>
            <a:r>
              <a:t>• log1p normalizes distribution</a:t>
            </a:r>
          </a:p>
          <a:p>
            <a:r>
              <a:t>• Improves model stability and RMSE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Time-based 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Prevents data leakage</a:t>
            </a:r>
          </a:p>
          <a:p>
            <a:r>
              <a:t>• Reflects real deployment scenario</a:t>
            </a:r>
          </a:p>
          <a:p>
            <a:r>
              <a:t>• Matches lectures on time-series ML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RMSE and MAE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RMSE penalizes larger mistakes</a:t>
            </a:r>
          </a:p>
          <a:p>
            <a:r>
              <a:t>• MAE gives average deviation</a:t>
            </a:r>
          </a:p>
          <a:p>
            <a:r>
              <a:t>• Both are standard in regression evaluation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Streamlit for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deploy ML models</a:t>
            </a:r>
          </a:p>
          <a:p>
            <a:r>
              <a:t>• User‑friendly for farmers</a:t>
            </a:r>
          </a:p>
          <a:p>
            <a:r>
              <a:t>• Real‑time inference + visualization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Matches full DS lifecycle taught in class:</a:t>
            </a:r>
          </a:p>
          <a:p>
            <a:r>
              <a:t>  Data → EDA → FE → Modeling → Validation →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